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/8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/8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/8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/8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90219" y="262128"/>
            <a:ext cx="9394190" cy="37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7682" y="1048702"/>
            <a:ext cx="5568315" cy="16954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487162" y="6476672"/>
            <a:ext cx="214629" cy="144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/8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35" dirty="0"/>
              <a:t>Laboratory</a:t>
            </a:r>
            <a:r>
              <a:rPr spc="110" dirty="0"/>
              <a:t> </a:t>
            </a:r>
            <a:r>
              <a:rPr spc="290" dirty="0"/>
              <a:t>Work</a:t>
            </a:r>
            <a:r>
              <a:rPr spc="114" dirty="0"/>
              <a:t> </a:t>
            </a:r>
            <a:r>
              <a:rPr spc="150" dirty="0"/>
              <a:t>1:</a:t>
            </a:r>
            <a:r>
              <a:rPr spc="114" dirty="0"/>
              <a:t> </a:t>
            </a:r>
            <a:r>
              <a:rPr spc="345" dirty="0"/>
              <a:t>ERD</a:t>
            </a:r>
            <a:r>
              <a:rPr spc="114" dirty="0"/>
              <a:t> </a:t>
            </a:r>
            <a:r>
              <a:rPr spc="310" dirty="0"/>
              <a:t>Diagram</a:t>
            </a:r>
            <a:r>
              <a:rPr spc="110" dirty="0"/>
              <a:t> </a:t>
            </a:r>
            <a:r>
              <a:rPr lang="en-US" spc="605" dirty="0"/>
              <a:t>-</a:t>
            </a:r>
            <a:r>
              <a:rPr spc="114" dirty="0"/>
              <a:t> </a:t>
            </a:r>
            <a:r>
              <a:rPr spc="225" dirty="0"/>
              <a:t>International</a:t>
            </a:r>
            <a:r>
              <a:rPr spc="114" dirty="0"/>
              <a:t> </a:t>
            </a:r>
            <a:r>
              <a:rPr spc="195" dirty="0"/>
              <a:t>Airport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1659" y="939800"/>
            <a:ext cx="10512425" cy="18791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175" dirty="0">
                <a:latin typeface="Trebuchet MS"/>
                <a:cs typeface="Trebuchet MS"/>
              </a:rPr>
              <a:t>Stu</a:t>
            </a:r>
            <a:r>
              <a:rPr lang="en-US" sz="1500" b="1" spc="175" dirty="0">
                <a:latin typeface="Trebuchet MS"/>
                <a:cs typeface="Trebuchet MS"/>
              </a:rPr>
              <a:t>dent name: Kuttybaev Dmitrii</a:t>
            </a:r>
            <a:endParaRPr sz="150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80"/>
              </a:spcBef>
              <a:tabLst>
                <a:tab pos="1475105" algn="l"/>
              </a:tabLst>
            </a:pPr>
            <a:r>
              <a:rPr sz="1500" b="1" spc="175" dirty="0">
                <a:latin typeface="Trebuchet MS"/>
                <a:cs typeface="Trebuchet MS"/>
              </a:rPr>
              <a:t>Student</a:t>
            </a:r>
            <a:r>
              <a:rPr sz="1500" b="1" spc="100" dirty="0">
                <a:latin typeface="Trebuchet MS"/>
                <a:cs typeface="Trebuchet MS"/>
              </a:rPr>
              <a:t> </a:t>
            </a:r>
            <a:r>
              <a:rPr sz="1500" b="1" spc="125" dirty="0">
                <a:latin typeface="Trebuchet MS"/>
                <a:cs typeface="Trebuchet MS"/>
              </a:rPr>
              <a:t>ID:</a:t>
            </a:r>
            <a:r>
              <a:rPr lang="en-US" sz="1500" b="1" spc="125" dirty="0">
                <a:latin typeface="Trebuchet MS"/>
                <a:cs typeface="Trebuchet MS"/>
              </a:rPr>
              <a:t> </a:t>
            </a:r>
            <a:r>
              <a:rPr sz="1500" spc="155" dirty="0">
                <a:latin typeface="Trebuchet MS"/>
                <a:cs typeface="Trebuchet MS"/>
              </a:rPr>
              <a:t>25B031326</a:t>
            </a:r>
            <a:endParaRPr sz="15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sz="150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700" b="1" spc="95" dirty="0">
                <a:latin typeface="Trebuchet MS"/>
                <a:cs typeface="Trebuchet MS"/>
              </a:rPr>
              <a:t>1.</a:t>
            </a:r>
            <a:r>
              <a:rPr sz="1700" b="1" spc="80" dirty="0">
                <a:latin typeface="Trebuchet MS"/>
                <a:cs typeface="Trebuchet MS"/>
              </a:rPr>
              <a:t> </a:t>
            </a:r>
            <a:r>
              <a:rPr sz="1700" b="1" spc="150" dirty="0">
                <a:latin typeface="Trebuchet MS"/>
                <a:cs typeface="Trebuchet MS"/>
              </a:rPr>
              <a:t>Introduction</a:t>
            </a:r>
            <a:endParaRPr lang="en-US" sz="1700" b="1" spc="15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endParaRPr sz="1700" dirty="0">
              <a:latin typeface="Trebuchet MS"/>
              <a:cs typeface="Trebuchet MS"/>
            </a:endParaRPr>
          </a:p>
          <a:p>
            <a:pPr marL="12700" marR="5080">
              <a:lnSpc>
                <a:spcPct val="111100"/>
              </a:lnSpc>
            </a:pPr>
            <a:r>
              <a:rPr sz="1200" spc="70" dirty="0">
                <a:latin typeface="Trebuchet MS"/>
                <a:cs typeface="Trebuchet MS"/>
              </a:rPr>
              <a:t>The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80" dirty="0">
                <a:latin typeface="Trebuchet MS"/>
                <a:cs typeface="Trebuchet MS"/>
              </a:rPr>
              <a:t>goal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of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this </a:t>
            </a:r>
            <a:r>
              <a:rPr sz="1200" spc="60" dirty="0">
                <a:latin typeface="Trebuchet MS"/>
                <a:cs typeface="Trebuchet MS"/>
              </a:rPr>
              <a:t>lab </a:t>
            </a:r>
            <a:r>
              <a:rPr sz="1200" spc="65" dirty="0">
                <a:latin typeface="Trebuchet MS"/>
                <a:cs typeface="Trebuchet MS"/>
              </a:rPr>
              <a:t>is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to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95" dirty="0">
                <a:latin typeface="Trebuchet MS"/>
                <a:cs typeface="Trebuchet MS"/>
              </a:rPr>
              <a:t>design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105" dirty="0">
                <a:latin typeface="Trebuchet MS"/>
                <a:cs typeface="Trebuchet MS"/>
              </a:rPr>
              <a:t>a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75" dirty="0">
                <a:latin typeface="Trebuchet MS"/>
                <a:cs typeface="Trebuchet MS"/>
              </a:rPr>
              <a:t>simple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90" dirty="0">
                <a:latin typeface="Trebuchet MS"/>
                <a:cs typeface="Trebuchet MS"/>
              </a:rPr>
              <a:t>database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90" dirty="0">
                <a:latin typeface="Trebuchet MS"/>
                <a:cs typeface="Trebuchet MS"/>
              </a:rPr>
              <a:t>diagram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100" dirty="0">
                <a:latin typeface="Trebuchet MS"/>
                <a:cs typeface="Trebuchet MS"/>
              </a:rPr>
              <a:t>(ERD)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for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105" dirty="0">
                <a:latin typeface="Trebuchet MS"/>
                <a:cs typeface="Trebuchet MS"/>
              </a:rPr>
              <a:t>an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50" dirty="0">
                <a:latin typeface="Trebuchet MS"/>
                <a:cs typeface="Trebuchet MS"/>
              </a:rPr>
              <a:t>international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airport.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I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will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65" dirty="0">
                <a:latin typeface="Trebuchet MS"/>
                <a:cs typeface="Trebuchet MS"/>
              </a:rPr>
              <a:t>set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95" dirty="0">
                <a:latin typeface="Trebuchet MS"/>
                <a:cs typeface="Trebuchet MS"/>
              </a:rPr>
              <a:t>up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the </a:t>
            </a:r>
            <a:r>
              <a:rPr sz="1200" spc="90" dirty="0">
                <a:latin typeface="Trebuchet MS"/>
                <a:cs typeface="Trebuchet MS"/>
              </a:rPr>
              <a:t>main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tables,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65" dirty="0">
                <a:latin typeface="Trebuchet MS"/>
                <a:cs typeface="Trebuchet MS"/>
              </a:rPr>
              <a:t>connect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45" dirty="0">
                <a:latin typeface="Trebuchet MS"/>
                <a:cs typeface="Trebuchet MS"/>
              </a:rPr>
              <a:t>them, </a:t>
            </a:r>
            <a:r>
              <a:rPr sz="1200" spc="100" dirty="0">
                <a:latin typeface="Trebuchet MS"/>
                <a:cs typeface="Trebuchet MS"/>
              </a:rPr>
              <a:t>and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define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the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75" dirty="0">
                <a:latin typeface="Trebuchet MS"/>
                <a:cs typeface="Trebuchet MS"/>
              </a:rPr>
              <a:t>basic</a:t>
            </a:r>
            <a:r>
              <a:rPr sz="1200" spc="65" dirty="0">
                <a:latin typeface="Trebuchet MS"/>
                <a:cs typeface="Trebuchet MS"/>
              </a:rPr>
              <a:t> rules </a:t>
            </a:r>
            <a:r>
              <a:rPr sz="1200" dirty="0">
                <a:latin typeface="Trebuchet MS"/>
                <a:cs typeface="Trebuchet MS"/>
              </a:rPr>
              <a:t>for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90" dirty="0">
                <a:latin typeface="Trebuchet MS"/>
                <a:cs typeface="Trebuchet MS"/>
              </a:rPr>
              <a:t>how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the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airport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90" dirty="0">
                <a:latin typeface="Trebuchet MS"/>
                <a:cs typeface="Trebuchet MS"/>
              </a:rPr>
              <a:t>database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45" dirty="0">
                <a:latin typeface="Trebuchet MS"/>
                <a:cs typeface="Trebuchet MS"/>
              </a:rPr>
              <a:t>works.</a:t>
            </a:r>
            <a:endParaRPr sz="1200" dirty="0">
              <a:latin typeface="Trebuchet MS"/>
              <a:cs typeface="Trebuchet MS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095D8929-62D0-D4A6-E9B5-ACDCB37527F7}"/>
              </a:ext>
            </a:extLst>
          </p:cNvPr>
          <p:cNvSpPr txBox="1">
            <a:spLocks/>
          </p:cNvSpPr>
          <p:nvPr/>
        </p:nvSpPr>
        <p:spPr>
          <a:xfrm>
            <a:off x="11568759" y="9177010"/>
            <a:ext cx="214629" cy="14414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>
            <a:defPPr>
              <a:defRPr kern="0"/>
            </a:defPPr>
            <a:lvl1pPr>
              <a:defRPr sz="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38100">
              <a:spcBef>
                <a:spcPts val="40"/>
              </a:spcBef>
            </a:pPr>
            <a:fld id="{81D60167-4931-47E6-BA6A-407CBD079E47}" type="slidenum">
              <a:rPr lang="ru-KZ" spc="-25" smtClean="0"/>
              <a:pPr marL="38100">
                <a:spcBef>
                  <a:spcPts val="40"/>
                </a:spcBef>
              </a:pPr>
              <a:t>1</a:t>
            </a:fld>
            <a:r>
              <a:rPr lang="ru-KZ" spc="-25"/>
              <a:t>/8</a:t>
            </a:r>
            <a:endParaRPr lang="ru-KZ" spc="-25" dirty="0"/>
          </a:p>
        </p:txBody>
      </p:sp>
      <p:sp>
        <p:nvSpPr>
          <p:cNvPr id="6" name="object 2" descr="$PPTXTitle">
            <a:extLst>
              <a:ext uri="{FF2B5EF4-FFF2-40B4-BE49-F238E27FC236}">
                <a16:creationId xmlns:a16="http://schemas.microsoft.com/office/drawing/2014/main" id="{891AFBF1-284D-0C88-7A86-EE973CCB2C6C}"/>
              </a:ext>
            </a:extLst>
          </p:cNvPr>
          <p:cNvSpPr txBox="1">
            <a:spLocks/>
          </p:cNvSpPr>
          <p:nvPr/>
        </p:nvSpPr>
        <p:spPr>
          <a:xfrm>
            <a:off x="571816" y="2962466"/>
            <a:ext cx="9394190" cy="2744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300" b="1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1700" spc="130" dirty="0"/>
              <a:t>2.</a:t>
            </a:r>
            <a:r>
              <a:rPr lang="en-US" sz="1700" spc="125" dirty="0"/>
              <a:t> </a:t>
            </a:r>
            <a:r>
              <a:rPr lang="en-US" sz="1700" spc="204" dirty="0"/>
              <a:t>Identified</a:t>
            </a:r>
            <a:r>
              <a:rPr lang="en-US" sz="1700" spc="130" dirty="0"/>
              <a:t> </a:t>
            </a:r>
            <a:r>
              <a:rPr lang="en-US" sz="1700" spc="200" dirty="0"/>
              <a:t>Entities</a:t>
            </a:r>
          </a:p>
        </p:txBody>
      </p:sp>
      <p:graphicFrame>
        <p:nvGraphicFramePr>
          <p:cNvPr id="7" name="object 3">
            <a:extLst>
              <a:ext uri="{FF2B5EF4-FFF2-40B4-BE49-F238E27FC236}">
                <a16:creationId xmlns:a16="http://schemas.microsoft.com/office/drawing/2014/main" id="{80DDD938-4A3C-0FFC-ECFF-E9F89E670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085154"/>
              </p:ext>
            </p:extLst>
          </p:nvPr>
        </p:nvGraphicFramePr>
        <p:xfrm>
          <a:off x="581659" y="3429000"/>
          <a:ext cx="11155680" cy="2514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b="1" spc="75" dirty="0">
                          <a:latin typeface="Trebuchet MS"/>
                          <a:cs typeface="Trebuchet MS"/>
                        </a:rPr>
                        <a:t>Entity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b="1" spc="110" dirty="0">
                          <a:latin typeface="Trebuchet MS"/>
                          <a:cs typeface="Trebuchet MS"/>
                        </a:rPr>
                        <a:t>Purpose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information: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name,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country,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state,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city,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creation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5" dirty="0">
                          <a:latin typeface="Trebuchet MS"/>
                          <a:cs typeface="Trebuchet MS"/>
                        </a:rPr>
                        <a:t>update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airline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company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information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including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airline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code,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name,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country,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creation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5" dirty="0">
                          <a:latin typeface="Trebuchet MS"/>
                          <a:cs typeface="Trebuchet MS"/>
                        </a:rPr>
                        <a:t>update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scheduled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actual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information,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5" dirty="0">
                          <a:latin typeface="Trebuchet MS"/>
                          <a:cs typeface="Trebuchet MS"/>
                        </a:rPr>
                        <a:t>gates,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airline,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departure/arrival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airports,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passenger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personal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passport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-10" dirty="0">
                          <a:latin typeface="Trebuchet MS"/>
                          <a:cs typeface="Trebuchet MS"/>
                        </a:rPr>
                        <a:t>information.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Booking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a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passenger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a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flight,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its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status,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platform,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ticket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10" dirty="0">
                          <a:latin typeface="Trebuchet MS"/>
                          <a:cs typeface="Trebuchet MS"/>
                        </a:rPr>
                        <a:t>price,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0" dirty="0">
                          <a:latin typeface="Trebuchet MS"/>
                          <a:cs typeface="Trebuchet MS"/>
                        </a:rPr>
                        <a:t>Separate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entity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used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record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changes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made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000" spc="9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-10" dirty="0">
                          <a:latin typeface="Trebuchet MS"/>
                          <a:cs typeface="Trebuchet MS"/>
                        </a:rPr>
                        <a:t>flight.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boarding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pass</a:t>
                      </a:r>
                      <a:r>
                        <a:rPr sz="10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information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0" dirty="0">
                          <a:latin typeface="Trebuchet MS"/>
                          <a:cs typeface="Trebuchet MS"/>
                        </a:rPr>
                        <a:t>issued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0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45" dirty="0">
                          <a:latin typeface="Trebuchet MS"/>
                          <a:cs typeface="Trebuchet MS"/>
                        </a:rPr>
                        <a:t>booking.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90" dirty="0">
                          <a:latin typeface="Trebuchet MS"/>
                          <a:cs typeface="Trebuchet MS"/>
                        </a:rPr>
                        <a:t>Baggage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baggage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registered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during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5" dirty="0">
                          <a:latin typeface="Trebuchet MS"/>
                          <a:cs typeface="Trebuchet MS"/>
                        </a:rPr>
                        <a:t>booking,</a:t>
                      </a:r>
                      <a:r>
                        <a:rPr sz="10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including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weight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and</a:t>
                      </a:r>
                      <a:r>
                        <a:rPr sz="10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80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the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95" dirty="0">
                          <a:latin typeface="Trebuchet MS"/>
                          <a:cs typeface="Trebuchet MS"/>
                        </a:rPr>
                        <a:t>baggage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checking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result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associated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dirty="0">
                          <a:latin typeface="Trebuchet MS"/>
                          <a:cs typeface="Trebuchet MS"/>
                        </a:rPr>
                        <a:t>with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a </a:t>
                      </a:r>
                      <a:r>
                        <a:rPr sz="1000" spc="6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000" spc="75" dirty="0">
                          <a:latin typeface="Trebuchet MS"/>
                          <a:cs typeface="Trebuchet MS"/>
                        </a:rPr>
                        <a:t> and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50" dirty="0">
                          <a:latin typeface="Trebuchet MS"/>
                          <a:cs typeface="Trebuchet MS"/>
                        </a:rPr>
                        <a:t>SecurityCheck</a:t>
                      </a:r>
                      <a:endParaRPr sz="10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65" dirty="0">
                          <a:latin typeface="Trebuchet MS"/>
                          <a:cs typeface="Trebuchet MS"/>
                        </a:rPr>
                        <a:t>Stores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50" dirty="0">
                          <a:latin typeface="Trebuchet MS"/>
                          <a:cs typeface="Trebuchet MS"/>
                        </a:rPr>
                        <a:t>security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check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information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2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000" spc="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000" spc="80" dirty="0">
                          <a:latin typeface="Trebuchet MS"/>
                          <a:cs typeface="Trebuchet MS"/>
                        </a:rPr>
                        <a:t>a </a:t>
                      </a:r>
                      <a:r>
                        <a:rPr sz="1000" spc="60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000" dirty="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3.</a:t>
            </a:r>
            <a:r>
              <a:rPr spc="114" dirty="0"/>
              <a:t> </a:t>
            </a:r>
            <a:r>
              <a:rPr spc="210" dirty="0"/>
              <a:t>Attributes,</a:t>
            </a:r>
            <a:r>
              <a:rPr spc="120" dirty="0"/>
              <a:t> </a:t>
            </a:r>
            <a:r>
              <a:rPr spc="310" dirty="0"/>
              <a:t>Keys</a:t>
            </a:r>
            <a:r>
              <a:rPr spc="114" dirty="0"/>
              <a:t> </a:t>
            </a:r>
            <a:r>
              <a:rPr spc="300" dirty="0"/>
              <a:t>and</a:t>
            </a:r>
            <a:r>
              <a:rPr spc="120" dirty="0"/>
              <a:t> </a:t>
            </a:r>
            <a:r>
              <a:rPr spc="310" dirty="0"/>
              <a:t>Data</a:t>
            </a:r>
            <a:r>
              <a:rPr spc="114" dirty="0"/>
              <a:t> </a:t>
            </a:r>
            <a:r>
              <a:rPr spc="250" dirty="0"/>
              <a:t>Types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342000"/>
              </p:ext>
            </p:extLst>
          </p:nvPr>
        </p:nvGraphicFramePr>
        <p:xfrm>
          <a:off x="408622" y="865822"/>
          <a:ext cx="11384278" cy="558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0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b="1" spc="50" dirty="0">
                          <a:latin typeface="Trebuchet MS"/>
                          <a:cs typeface="Trebuchet MS"/>
                        </a:rPr>
                        <a:t>Entity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b="1" spc="55" dirty="0">
                          <a:latin typeface="Trebuchet MS"/>
                          <a:cs typeface="Trebuchet MS"/>
                        </a:rPr>
                        <a:t>Attribute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b="1" spc="55" dirty="0">
                          <a:latin typeface="Trebuchet MS"/>
                          <a:cs typeface="Trebuchet MS"/>
                        </a:rPr>
                        <a:t>Type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b="1" spc="65" dirty="0">
                          <a:latin typeface="Trebuchet MS"/>
                          <a:cs typeface="Trebuchet MS"/>
                        </a:rPr>
                        <a:t>Constraint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b="1" spc="65" dirty="0">
                          <a:latin typeface="Trebuchet MS"/>
                          <a:cs typeface="Trebuchet MS"/>
                        </a:rPr>
                        <a:t>Description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airport_id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5" dirty="0">
                          <a:latin typeface="Trebuchet MS"/>
                          <a:cs typeface="Trebuchet MS"/>
                        </a:rPr>
                        <a:t>PK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2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airport_name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VARCHAR(150)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20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35" dirty="0">
                          <a:latin typeface="Trebuchet MS"/>
                          <a:cs typeface="Trebuchet MS"/>
                        </a:rPr>
                        <a:t>name.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country</a:t>
                      </a:r>
                      <a:endParaRPr sz="12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Country.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state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Optional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State/region.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20" dirty="0">
                          <a:latin typeface="Trebuchet MS"/>
                          <a:cs typeface="Trebuchet MS"/>
                        </a:rPr>
                        <a:t>city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City.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created_at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0" dirty="0">
                          <a:latin typeface="Trebuchet MS"/>
                          <a:cs typeface="Trebuchet MS"/>
                        </a:rPr>
                        <a:t>Creation</a:t>
                      </a:r>
                      <a:r>
                        <a:rPr sz="1200" spc="2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Last</a:t>
                      </a:r>
                      <a:r>
                        <a:rPr sz="120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50" dirty="0">
                          <a:latin typeface="Trebuchet MS"/>
                          <a:cs typeface="Trebuchet MS"/>
                        </a:rPr>
                        <a:t>update</a:t>
                      </a:r>
                      <a:r>
                        <a:rPr sz="12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airline_id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5" dirty="0">
                          <a:latin typeface="Trebuchet MS"/>
                          <a:cs typeface="Trebuchet MS"/>
                        </a:rPr>
                        <a:t>PK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2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airline_code</a:t>
                      </a:r>
                      <a:endParaRPr sz="12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Required</a:t>
                      </a:r>
                      <a:r>
                        <a:rPr sz="12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2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20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50" dirty="0">
                          <a:latin typeface="Trebuchet MS"/>
                          <a:cs typeface="Trebuchet MS"/>
                        </a:rPr>
                        <a:t>UQ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10" dirty="0">
                          <a:latin typeface="Trebuchet MS"/>
                          <a:cs typeface="Trebuchet MS"/>
                        </a:rPr>
                        <a:t>Airline</a:t>
                      </a:r>
                      <a:r>
                        <a:rPr sz="120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20" dirty="0">
                          <a:latin typeface="Trebuchet MS"/>
                          <a:cs typeface="Trebuchet MS"/>
                        </a:rPr>
                        <a:t>code.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name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VARCHAR(150)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10" dirty="0">
                          <a:latin typeface="Trebuchet MS"/>
                          <a:cs typeface="Trebuchet MS"/>
                        </a:rPr>
                        <a:t>Airline</a:t>
                      </a:r>
                      <a:r>
                        <a:rPr sz="120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35" dirty="0">
                          <a:latin typeface="Trebuchet MS"/>
                          <a:cs typeface="Trebuchet MS"/>
                        </a:rPr>
                        <a:t>name.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country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Country.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created_at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0" dirty="0">
                          <a:latin typeface="Trebuchet MS"/>
                          <a:cs typeface="Trebuchet MS"/>
                        </a:rPr>
                        <a:t>Creation</a:t>
                      </a:r>
                      <a:r>
                        <a:rPr sz="1200" spc="2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Last</a:t>
                      </a:r>
                      <a:r>
                        <a:rPr sz="120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50" dirty="0">
                          <a:latin typeface="Trebuchet MS"/>
                          <a:cs typeface="Trebuchet MS"/>
                        </a:rPr>
                        <a:t>update</a:t>
                      </a:r>
                      <a:r>
                        <a:rPr sz="12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flight_id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5" dirty="0">
                          <a:latin typeface="Trebuchet MS"/>
                          <a:cs typeface="Trebuchet MS"/>
                        </a:rPr>
                        <a:t>PK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2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departing_gate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Optional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Departure</a:t>
                      </a:r>
                      <a:r>
                        <a:rPr sz="1200" spc="1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gate.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35" dirty="0">
                          <a:latin typeface="Trebuchet MS"/>
                          <a:cs typeface="Trebuchet MS"/>
                        </a:rPr>
                        <a:t>arriving_gate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60" dirty="0">
                          <a:latin typeface="Trebuchet MS"/>
                          <a:cs typeface="Trebuchet MS"/>
                        </a:rPr>
                        <a:t>VARCHAR(10)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Optional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10" dirty="0">
                          <a:latin typeface="Trebuchet MS"/>
                          <a:cs typeface="Trebuchet MS"/>
                        </a:rPr>
                        <a:t>Arrival</a:t>
                      </a:r>
                      <a:r>
                        <a:rPr sz="12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20" dirty="0">
                          <a:latin typeface="Trebuchet MS"/>
                          <a:cs typeface="Trebuchet MS"/>
                        </a:rPr>
                        <a:t>gate.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airline_id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5" dirty="0">
                          <a:latin typeface="Trebuchet MS"/>
                          <a:cs typeface="Trebuchet MS"/>
                        </a:rPr>
                        <a:t>FK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2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Airline.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departure_airport_id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5" dirty="0">
                          <a:latin typeface="Trebuchet MS"/>
                          <a:cs typeface="Trebuchet MS"/>
                        </a:rPr>
                        <a:t>FK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2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arrival_airport_id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25" dirty="0">
                          <a:latin typeface="Trebuchet MS"/>
                          <a:cs typeface="Trebuchet MS"/>
                        </a:rPr>
                        <a:t>FK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2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Airport.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scheduled_departure_time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Scheduled</a:t>
                      </a:r>
                      <a:r>
                        <a:rPr sz="1200" spc="1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30" dirty="0">
                          <a:latin typeface="Trebuchet MS"/>
                          <a:cs typeface="Trebuchet MS"/>
                        </a:rPr>
                        <a:t>departure</a:t>
                      </a:r>
                      <a:r>
                        <a:rPr sz="1200" spc="114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scheduled_arrival_time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Scheduled</a:t>
                      </a:r>
                      <a:r>
                        <a:rPr sz="1200" spc="1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10" dirty="0">
                          <a:latin typeface="Trebuchet MS"/>
                          <a:cs typeface="Trebuchet MS"/>
                        </a:rPr>
                        <a:t>arrival</a:t>
                      </a:r>
                      <a:r>
                        <a:rPr sz="1200" spc="1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actual_departure_time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Optional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30" dirty="0">
                          <a:latin typeface="Trebuchet MS"/>
                          <a:cs typeface="Trebuchet MS"/>
                        </a:rPr>
                        <a:t>Actual</a:t>
                      </a:r>
                      <a:r>
                        <a:rPr sz="1200" spc="1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30" dirty="0">
                          <a:latin typeface="Trebuchet MS"/>
                          <a:cs typeface="Trebuchet MS"/>
                        </a:rPr>
                        <a:t>departure</a:t>
                      </a:r>
                      <a:r>
                        <a:rPr sz="1200" spc="1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actual_arrival_time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Optional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10" dirty="0">
                          <a:latin typeface="Trebuchet MS"/>
                          <a:cs typeface="Trebuchet MS"/>
                        </a:rPr>
                        <a:t>Actual</a:t>
                      </a:r>
                      <a:r>
                        <a:rPr sz="1200" spc="204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10" dirty="0">
                          <a:latin typeface="Trebuchet MS"/>
                          <a:cs typeface="Trebuchet MS"/>
                        </a:rPr>
                        <a:t>arrival</a:t>
                      </a:r>
                      <a:r>
                        <a:rPr sz="12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dirty="0">
                          <a:latin typeface="Trebuchet MS"/>
                          <a:cs typeface="Trebuchet MS"/>
                        </a:rPr>
                        <a:t>created_at</a:t>
                      </a:r>
                      <a:r>
                        <a:rPr sz="1200" spc="204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2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2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200" dirty="0">
                          <a:latin typeface="Trebuchet MS"/>
                          <a:cs typeface="Trebuchet MS"/>
                        </a:rPr>
                        <a:t>Audit</a:t>
                      </a:r>
                      <a:r>
                        <a:rPr sz="1200" spc="21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spc="4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2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3.</a:t>
            </a:r>
            <a:r>
              <a:rPr spc="114" dirty="0"/>
              <a:t> </a:t>
            </a:r>
            <a:r>
              <a:rPr spc="210" dirty="0"/>
              <a:t>Attributes,</a:t>
            </a:r>
            <a:r>
              <a:rPr spc="114" dirty="0"/>
              <a:t> </a:t>
            </a:r>
            <a:r>
              <a:rPr spc="310" dirty="0"/>
              <a:t>Keys</a:t>
            </a:r>
            <a:r>
              <a:rPr spc="120" dirty="0"/>
              <a:t> </a:t>
            </a:r>
            <a:r>
              <a:rPr spc="300" dirty="0"/>
              <a:t>and</a:t>
            </a:r>
            <a:r>
              <a:rPr spc="114" dirty="0"/>
              <a:t> </a:t>
            </a:r>
            <a:r>
              <a:rPr spc="310" dirty="0"/>
              <a:t>Data</a:t>
            </a:r>
            <a:r>
              <a:rPr spc="120" dirty="0"/>
              <a:t> </a:t>
            </a:r>
            <a:r>
              <a:rPr spc="260" dirty="0"/>
              <a:t>Types</a:t>
            </a:r>
            <a:r>
              <a:rPr spc="114" dirty="0"/>
              <a:t> </a:t>
            </a:r>
            <a:r>
              <a:rPr lang="en-US" spc="605" dirty="0"/>
              <a:t>-</a:t>
            </a:r>
            <a:r>
              <a:rPr spc="220" dirty="0"/>
              <a:t>Continued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443317"/>
              </p:ext>
            </p:extLst>
          </p:nvPr>
        </p:nvGraphicFramePr>
        <p:xfrm>
          <a:off x="490219" y="836463"/>
          <a:ext cx="11384279" cy="5796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b="1" spc="50" dirty="0">
                          <a:latin typeface="Trebuchet MS"/>
                          <a:cs typeface="Trebuchet MS"/>
                        </a:rPr>
                        <a:t>Entity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b="1" spc="55" dirty="0">
                          <a:latin typeface="Trebuchet MS"/>
                          <a:cs typeface="Trebuchet MS"/>
                        </a:rPr>
                        <a:t>Attribute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b="1" spc="55" dirty="0">
                          <a:latin typeface="Trebuchet MS"/>
                          <a:cs typeface="Trebuchet MS"/>
                        </a:rPr>
                        <a:t>Type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b="1" spc="65" dirty="0">
                          <a:latin typeface="Trebuchet MS"/>
                          <a:cs typeface="Trebuchet MS"/>
                        </a:rPr>
                        <a:t>Constraint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b="1" spc="65" dirty="0">
                          <a:latin typeface="Trebuchet MS"/>
                          <a:cs typeface="Trebuchet MS"/>
                        </a:rPr>
                        <a:t>Description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5" dirty="0">
                          <a:latin typeface="Trebuchet MS"/>
                          <a:cs typeface="Trebuchet MS"/>
                        </a:rPr>
                        <a:t>passenger_id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5" dirty="0">
                          <a:latin typeface="Trebuchet MS"/>
                          <a:cs typeface="Trebuchet MS"/>
                        </a:rPr>
                        <a:t>PK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1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first_name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1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dirty="0">
                          <a:latin typeface="Trebuchet MS"/>
                          <a:cs typeface="Trebuchet MS"/>
                        </a:rPr>
                        <a:t>First</a:t>
                      </a:r>
                      <a:r>
                        <a:rPr sz="110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35" dirty="0">
                          <a:latin typeface="Trebuchet MS"/>
                          <a:cs typeface="Trebuchet MS"/>
                        </a:rPr>
                        <a:t>name.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last_name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Last</a:t>
                      </a:r>
                      <a:r>
                        <a:rPr sz="1100" spc="1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35" dirty="0">
                          <a:latin typeface="Trebuchet MS"/>
                          <a:cs typeface="Trebuchet MS"/>
                        </a:rPr>
                        <a:t>name.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gender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VARCHAR(20)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Gender.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date_of_birth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DATE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Date</a:t>
                      </a:r>
                      <a:r>
                        <a:rPr sz="11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dirty="0">
                          <a:latin typeface="Trebuchet MS"/>
                          <a:cs typeface="Trebuchet MS"/>
                        </a:rPr>
                        <a:t>of</a:t>
                      </a:r>
                      <a:r>
                        <a:rPr sz="11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birth.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country_of_citizenship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30" dirty="0">
                          <a:latin typeface="Trebuchet MS"/>
                          <a:cs typeface="Trebuchet MS"/>
                        </a:rPr>
                        <a:t>Citizenship</a:t>
                      </a:r>
                      <a:r>
                        <a:rPr sz="1100" spc="1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country.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country_of_residence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VARCHAR(100)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Residence</a:t>
                      </a:r>
                      <a:r>
                        <a:rPr sz="11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country.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5" dirty="0">
                          <a:latin typeface="Trebuchet MS"/>
                          <a:cs typeface="Trebuchet MS"/>
                        </a:rPr>
                        <a:t>passport_number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VARCHAR(30)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Required</a:t>
                      </a:r>
                      <a:r>
                        <a:rPr sz="11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2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10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50" dirty="0">
                          <a:latin typeface="Trebuchet MS"/>
                          <a:cs typeface="Trebuchet MS"/>
                        </a:rPr>
                        <a:t>UQ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Passport</a:t>
                      </a:r>
                      <a:r>
                        <a:rPr sz="11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5" dirty="0">
                          <a:latin typeface="Trebuchet MS"/>
                          <a:cs typeface="Trebuchet MS"/>
                        </a:rPr>
                        <a:t>number.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Passenger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dirty="0">
                          <a:latin typeface="Trebuchet MS"/>
                          <a:cs typeface="Trebuchet MS"/>
                        </a:rPr>
                        <a:t>created_at</a:t>
                      </a:r>
                      <a:r>
                        <a:rPr sz="1100" spc="204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2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1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dirty="0">
                          <a:latin typeface="Trebuchet MS"/>
                          <a:cs typeface="Trebuchet MS"/>
                        </a:rPr>
                        <a:t>Profile</a:t>
                      </a:r>
                      <a:r>
                        <a:rPr sz="1100" spc="18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5" dirty="0">
                          <a:latin typeface="Trebuchet MS"/>
                          <a:cs typeface="Trebuchet MS"/>
                        </a:rPr>
                        <a:t>PK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1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flight_id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5" dirty="0">
                          <a:latin typeface="Trebuchet MS"/>
                          <a:cs typeface="Trebuchet MS"/>
                        </a:rPr>
                        <a:t>FK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1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Flight.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5" dirty="0">
                          <a:latin typeface="Trebuchet MS"/>
                          <a:cs typeface="Trebuchet MS"/>
                        </a:rPr>
                        <a:t>passenger_id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5" dirty="0">
                          <a:latin typeface="Trebuchet MS"/>
                          <a:cs typeface="Trebuchet MS"/>
                        </a:rPr>
                        <a:t>FK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1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5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status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VARCHAR(30)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1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status.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booking_platform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VARCHAR(50)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0" dirty="0">
                          <a:latin typeface="Trebuchet MS"/>
                          <a:cs typeface="Trebuchet MS"/>
                        </a:rPr>
                        <a:t>Platform</a:t>
                      </a:r>
                      <a:r>
                        <a:rPr sz="1100" spc="65" dirty="0">
                          <a:latin typeface="Trebuchet MS"/>
                          <a:cs typeface="Trebuchet MS"/>
                        </a:rPr>
                        <a:t> used</a:t>
                      </a:r>
                      <a:r>
                        <a:rPr sz="11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2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1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booking.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ticket_price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NUMERIC(10,2)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dirty="0">
                          <a:latin typeface="Trebuchet MS"/>
                          <a:cs typeface="Trebuchet MS"/>
                        </a:rPr>
                        <a:t>Ticket</a:t>
                      </a:r>
                      <a:r>
                        <a:rPr sz="1100" spc="21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price.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Booking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dirty="0">
                          <a:latin typeface="Trebuchet MS"/>
                          <a:cs typeface="Trebuchet MS"/>
                        </a:rPr>
                        <a:t>created_at</a:t>
                      </a:r>
                      <a:r>
                        <a:rPr sz="1100" spc="204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2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1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1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change_id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5" dirty="0">
                          <a:latin typeface="Trebuchet MS"/>
                          <a:cs typeface="Trebuchet MS"/>
                        </a:rPr>
                        <a:t>PK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1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10" dirty="0">
                          <a:latin typeface="Trebuchet MS"/>
                          <a:cs typeface="Trebuchet MS"/>
                        </a:rPr>
                        <a:t>identifier</a:t>
                      </a:r>
                      <a:r>
                        <a:rPr sz="11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1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1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70" dirty="0">
                          <a:latin typeface="Trebuchet MS"/>
                          <a:cs typeface="Trebuchet MS"/>
                        </a:rPr>
                        <a:t>change</a:t>
                      </a:r>
                      <a:r>
                        <a:rPr sz="11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record.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25" dirty="0">
                          <a:latin typeface="Trebuchet MS"/>
                          <a:cs typeface="Trebuchet MS"/>
                        </a:rPr>
                        <a:t>FK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1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0" dirty="0">
                          <a:latin typeface="Trebuchet MS"/>
                          <a:cs typeface="Trebuchet MS"/>
                        </a:rPr>
                        <a:t>Booking.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old_flight_id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FK</a:t>
                      </a:r>
                      <a:r>
                        <a:rPr sz="11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50" dirty="0">
                          <a:latin typeface="Trebuchet MS"/>
                          <a:cs typeface="Trebuchet MS"/>
                        </a:rPr>
                        <a:t>(recommended)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1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10" dirty="0">
                          <a:latin typeface="Trebuchet MS"/>
                          <a:cs typeface="Trebuchet MS"/>
                        </a:rPr>
                        <a:t>before</a:t>
                      </a:r>
                      <a:r>
                        <a:rPr sz="11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5" dirty="0">
                          <a:latin typeface="Trebuchet MS"/>
                          <a:cs typeface="Trebuchet MS"/>
                        </a:rPr>
                        <a:t>change.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new_flight_id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BIGINT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0" dirty="0">
                          <a:latin typeface="Trebuchet MS"/>
                          <a:cs typeface="Trebuchet MS"/>
                        </a:rPr>
                        <a:t>FK</a:t>
                      </a:r>
                      <a:r>
                        <a:rPr sz="11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50" dirty="0">
                          <a:latin typeface="Trebuchet MS"/>
                          <a:cs typeface="Trebuchet MS"/>
                        </a:rPr>
                        <a:t>(recommended)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100" spc="2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dirty="0">
                          <a:latin typeface="Trebuchet MS"/>
                          <a:cs typeface="Trebuchet MS"/>
                        </a:rPr>
                        <a:t>after</a:t>
                      </a:r>
                      <a:r>
                        <a:rPr sz="1100" spc="2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5" dirty="0">
                          <a:latin typeface="Trebuchet MS"/>
                          <a:cs typeface="Trebuchet MS"/>
                        </a:rPr>
                        <a:t>change.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7462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5" dirty="0">
                          <a:latin typeface="Trebuchet MS"/>
                          <a:cs typeface="Trebuchet MS"/>
                        </a:rPr>
                        <a:t>change_reason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60" dirty="0">
                          <a:latin typeface="Trebuchet MS"/>
                          <a:cs typeface="Trebuchet MS"/>
                        </a:rPr>
                        <a:t>VARCHAR(255)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-10" dirty="0">
                          <a:latin typeface="Trebuchet MS"/>
                          <a:cs typeface="Trebuchet MS"/>
                        </a:rPr>
                        <a:t>Optional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70" dirty="0">
                          <a:latin typeface="Trebuchet MS"/>
                          <a:cs typeface="Trebuchet MS"/>
                        </a:rPr>
                        <a:t>Reason</a:t>
                      </a:r>
                      <a:r>
                        <a:rPr sz="11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1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45" dirty="0">
                          <a:latin typeface="Trebuchet MS"/>
                          <a:cs typeface="Trebuchet MS"/>
                        </a:rPr>
                        <a:t>change.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changed_at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5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4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1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100" spc="75" dirty="0">
                          <a:latin typeface="Trebuchet MS"/>
                          <a:cs typeface="Trebuchet MS"/>
                        </a:rPr>
                        <a:t>Change</a:t>
                      </a:r>
                      <a:r>
                        <a:rPr sz="110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1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1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3.</a:t>
            </a:r>
            <a:r>
              <a:rPr spc="114" dirty="0"/>
              <a:t> </a:t>
            </a:r>
            <a:r>
              <a:rPr spc="210" dirty="0"/>
              <a:t>Attributes,</a:t>
            </a:r>
            <a:r>
              <a:rPr spc="114" dirty="0"/>
              <a:t> </a:t>
            </a:r>
            <a:r>
              <a:rPr spc="310" dirty="0"/>
              <a:t>Keys</a:t>
            </a:r>
            <a:r>
              <a:rPr spc="120" dirty="0"/>
              <a:t> </a:t>
            </a:r>
            <a:r>
              <a:rPr spc="300" dirty="0"/>
              <a:t>and</a:t>
            </a:r>
            <a:r>
              <a:rPr spc="114" dirty="0"/>
              <a:t> </a:t>
            </a:r>
            <a:r>
              <a:rPr spc="310" dirty="0"/>
              <a:t>Data</a:t>
            </a:r>
            <a:r>
              <a:rPr spc="120" dirty="0"/>
              <a:t> </a:t>
            </a:r>
            <a:r>
              <a:rPr spc="260" dirty="0"/>
              <a:t>Types</a:t>
            </a:r>
            <a:r>
              <a:rPr spc="114" dirty="0"/>
              <a:t> </a:t>
            </a:r>
            <a:r>
              <a:rPr lang="en-US" spc="605" dirty="0"/>
              <a:t>-</a:t>
            </a:r>
            <a:r>
              <a:rPr spc="220" dirty="0"/>
              <a:t>Continued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394929"/>
              </p:ext>
            </p:extLst>
          </p:nvPr>
        </p:nvGraphicFramePr>
        <p:xfrm>
          <a:off x="408622" y="865822"/>
          <a:ext cx="11384279" cy="49911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b="1" spc="55" dirty="0">
                          <a:latin typeface="Trebuchet MS"/>
                          <a:cs typeface="Trebuchet MS"/>
                        </a:rPr>
                        <a:t>Entity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b="1" spc="55" dirty="0">
                          <a:latin typeface="Trebuchet MS"/>
                          <a:cs typeface="Trebuchet MS"/>
                        </a:rPr>
                        <a:t>Attribute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b="1" spc="50" dirty="0">
                          <a:latin typeface="Trebuchet MS"/>
                          <a:cs typeface="Trebuchet MS"/>
                        </a:rPr>
                        <a:t>Type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b="1" spc="60" dirty="0">
                          <a:latin typeface="Trebuchet MS"/>
                          <a:cs typeface="Trebuchet MS"/>
                        </a:rPr>
                        <a:t>Constraint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b="1" spc="60" dirty="0">
                          <a:latin typeface="Trebuchet MS"/>
                          <a:cs typeface="Trebuchet MS"/>
                        </a:rPr>
                        <a:t>Description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boarding_pass_id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PK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4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0" dirty="0">
                          <a:latin typeface="Trebuchet MS"/>
                          <a:cs typeface="Trebuchet MS"/>
                        </a:rPr>
                        <a:t>seat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VARCHAR(10)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5" dirty="0">
                          <a:latin typeface="Trebuchet MS"/>
                          <a:cs typeface="Trebuchet MS"/>
                        </a:rPr>
                        <a:t>Assigned</a:t>
                      </a:r>
                      <a:r>
                        <a:rPr sz="140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seat.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boarding_time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Boarding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time.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dirty="0">
                          <a:latin typeface="Trebuchet MS"/>
                          <a:cs typeface="Trebuchet MS"/>
                        </a:rPr>
                        <a:t>created_at</a:t>
                      </a:r>
                      <a:r>
                        <a:rPr sz="1400" spc="1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3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400" spc="1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60" dirty="0">
                          <a:latin typeface="Trebuchet MS"/>
                          <a:cs typeface="Trebuchet MS"/>
                        </a:rPr>
                        <a:t>Pass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FK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2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65" dirty="0">
                          <a:latin typeface="Trebuchet MS"/>
                          <a:cs typeface="Trebuchet MS"/>
                        </a:rPr>
                        <a:t>Baggage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baggage_id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PK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4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65" dirty="0">
                          <a:latin typeface="Trebuchet MS"/>
                          <a:cs typeface="Trebuchet MS"/>
                        </a:rPr>
                        <a:t>Baggage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weight_kg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0" dirty="0">
                          <a:latin typeface="Trebuchet MS"/>
                          <a:cs typeface="Trebuchet MS"/>
                        </a:rPr>
                        <a:t>NUMERIC(6,2)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Weight</a:t>
                      </a:r>
                      <a:r>
                        <a:rPr sz="1400" spc="1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in</a:t>
                      </a:r>
                      <a:r>
                        <a:rPr sz="1400" spc="1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kilograms.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65" dirty="0">
                          <a:latin typeface="Trebuchet MS"/>
                          <a:cs typeface="Trebuchet MS"/>
                        </a:rPr>
                        <a:t>Baggage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dirty="0">
                          <a:latin typeface="Trebuchet MS"/>
                          <a:cs typeface="Trebuchet MS"/>
                        </a:rPr>
                        <a:t>created_date</a:t>
                      </a:r>
                      <a:r>
                        <a:rPr sz="1400" spc="2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3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400" spc="2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updated_date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75" dirty="0">
                          <a:latin typeface="Trebuchet MS"/>
                          <a:cs typeface="Trebuchet MS"/>
                        </a:rPr>
                        <a:t>Baggage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65" dirty="0">
                          <a:latin typeface="Trebuchet MS"/>
                          <a:cs typeface="Trebuchet MS"/>
                        </a:rPr>
                        <a:t>Baggage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FK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2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baggage_checking_id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PK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4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check_results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VARCHAR(30)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Check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result.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dirty="0">
                          <a:latin typeface="Trebuchet MS"/>
                          <a:cs typeface="Trebuchet MS"/>
                        </a:rPr>
                        <a:t>created_at</a:t>
                      </a:r>
                      <a:r>
                        <a:rPr sz="1400" spc="1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3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400" spc="1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400" dirty="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Check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FK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2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passenger_id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FK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2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SecurityCheck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security_check_id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PK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Unique</a:t>
                      </a:r>
                      <a:r>
                        <a:rPr sz="14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identifier.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SecurityCheck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check_results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VARCHAR(30)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20" dirty="0">
                          <a:latin typeface="Trebuchet MS"/>
                          <a:cs typeface="Trebuchet MS"/>
                        </a:rPr>
                        <a:t>Security</a:t>
                      </a:r>
                      <a:r>
                        <a:rPr sz="1400" spc="1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check</a:t>
                      </a:r>
                      <a:r>
                        <a:rPr sz="1400" spc="1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result.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SecurityCheck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dirty="0">
                          <a:latin typeface="Trebuchet MS"/>
                          <a:cs typeface="Trebuchet MS"/>
                        </a:rPr>
                        <a:t>created_at</a:t>
                      </a:r>
                      <a:r>
                        <a:rPr sz="1400" spc="1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3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1400" spc="1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updated_at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45" dirty="0">
                          <a:latin typeface="Trebuchet MS"/>
                          <a:cs typeface="Trebuchet MS"/>
                        </a:rPr>
                        <a:t>TIMESTAMP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Required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50" dirty="0">
                          <a:latin typeface="Trebuchet MS"/>
                          <a:cs typeface="Trebuchet MS"/>
                        </a:rPr>
                        <a:t>Check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timestamps.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SecurityCheck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passenger_id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10" dirty="0">
                          <a:latin typeface="Trebuchet MS"/>
                          <a:cs typeface="Trebuchet MS"/>
                        </a:rPr>
                        <a:t>BIGINT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-25" dirty="0">
                          <a:latin typeface="Trebuchet MS"/>
                          <a:cs typeface="Trebuchet MS"/>
                        </a:rPr>
                        <a:t>FK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400" spc="2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1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400" dirty="0">
                        <a:latin typeface="Trebuchet MS"/>
                        <a:cs typeface="Trebuchet MS"/>
                      </a:endParaRPr>
                    </a:p>
                  </a:txBody>
                  <a:tcPr marL="0" marR="0" marT="3810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57" y="518976"/>
            <a:ext cx="9394190" cy="375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4.</a:t>
            </a:r>
            <a:r>
              <a:rPr spc="114" dirty="0"/>
              <a:t> </a:t>
            </a:r>
            <a:r>
              <a:rPr spc="250" dirty="0"/>
              <a:t>Relationships</a:t>
            </a:r>
            <a:r>
              <a:rPr spc="114" dirty="0"/>
              <a:t> </a:t>
            </a:r>
            <a:r>
              <a:rPr spc="300" dirty="0"/>
              <a:t>and</a:t>
            </a:r>
            <a:r>
              <a:rPr spc="114" dirty="0"/>
              <a:t> </a:t>
            </a:r>
            <a:r>
              <a:rPr spc="204" dirty="0"/>
              <a:t>Cardinalities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759610"/>
              </p:ext>
            </p:extLst>
          </p:nvPr>
        </p:nvGraphicFramePr>
        <p:xfrm>
          <a:off x="403860" y="1122670"/>
          <a:ext cx="11384280" cy="4754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5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85" dirty="0">
                          <a:latin typeface="Trebuchet MS"/>
                          <a:cs typeface="Trebuchet MS"/>
                        </a:rPr>
                        <a:t>Relationship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75" dirty="0">
                          <a:latin typeface="Trebuchet MS"/>
                          <a:cs typeface="Trebuchet MS"/>
                        </a:rPr>
                        <a:t>Cardinality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105" dirty="0">
                          <a:latin typeface="Trebuchet MS"/>
                          <a:cs typeface="Trebuchet MS"/>
                        </a:rPr>
                        <a:t>Simple</a:t>
                      </a:r>
                      <a:r>
                        <a:rPr sz="1400" b="1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b="1" spc="85" dirty="0">
                          <a:latin typeface="Trebuchet MS"/>
                          <a:cs typeface="Trebuchet MS"/>
                        </a:rPr>
                        <a:t>explanation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400" spc="1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1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(departure)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the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departure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many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flights;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5" dirty="0">
                          <a:latin typeface="Trebuchet MS"/>
                          <a:cs typeface="Trebuchet MS"/>
                        </a:rPr>
                        <a:t>has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one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departure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airport.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400" spc="1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1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(arrival)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the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arrival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airport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for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many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flights;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5" dirty="0">
                          <a:latin typeface="Trebuchet MS"/>
                          <a:cs typeface="Trebuchet MS"/>
                        </a:rPr>
                        <a:t>has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arrival</a:t>
                      </a:r>
                      <a:r>
                        <a:rPr sz="1400" spc="10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airport.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dirty="0">
                          <a:latin typeface="Trebuchet MS"/>
                          <a:cs typeface="Trebuchet MS"/>
                        </a:rPr>
                        <a:t>Airline</a:t>
                      </a:r>
                      <a:r>
                        <a:rPr sz="1400" spc="1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Flight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airline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operates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many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flights;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belongs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airline.</a:t>
                      </a:r>
                      <a:endParaRPr sz="14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0" dirty="0">
                          <a:latin typeface="Trebuchet MS"/>
                          <a:cs typeface="Trebuchet MS"/>
                        </a:rPr>
                        <a:t>Passenger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Booking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passenger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5" dirty="0">
                          <a:latin typeface="Trebuchet MS"/>
                          <a:cs typeface="Trebuchet MS"/>
                        </a:rPr>
                        <a:t>make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many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bookings;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1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Booking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have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many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bookings;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references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10" dirty="0">
                          <a:latin typeface="Trebuchet MS"/>
                          <a:cs typeface="Trebuchet MS"/>
                        </a:rPr>
                        <a:t>flight.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BoardingPass</a:t>
                      </a:r>
                      <a:endParaRPr sz="14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-20" dirty="0">
                          <a:latin typeface="Trebuchet MS"/>
                          <a:cs typeface="Trebuchet MS"/>
                        </a:rPr>
                        <a:t>0..1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5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have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zero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or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boarding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pass;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boarding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5" dirty="0">
                          <a:latin typeface="Trebuchet MS"/>
                          <a:cs typeface="Trebuchet MS"/>
                        </a:rPr>
                        <a:t>pass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belongs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5" dirty="0">
                          <a:latin typeface="Trebuchet MS"/>
                          <a:cs typeface="Trebuchet MS"/>
                        </a:rPr>
                        <a:t>Baggage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contain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multiple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baggage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records;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90" dirty="0">
                          <a:latin typeface="Trebuchet MS"/>
                          <a:cs typeface="Trebuchet MS"/>
                        </a:rPr>
                        <a:t>baggage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record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belongs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 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have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multiple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baggage-check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records;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each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record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0" dirty="0">
                          <a:latin typeface="Trebuchet MS"/>
                          <a:cs typeface="Trebuchet MS"/>
                        </a:rPr>
                        <a:t>Passenger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BaggageCheck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passenger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can 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have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multiple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baggage-check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records;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each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record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0" dirty="0">
                          <a:latin typeface="Trebuchet MS"/>
                          <a:cs typeface="Trebuchet MS"/>
                        </a:rPr>
                        <a:t>Passenger</a:t>
                      </a:r>
                      <a:r>
                        <a:rPr sz="1400" spc="3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SecurityCheck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passenger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have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multiple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security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checks;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security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check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belongs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2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passenger.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75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0" dirty="0">
                          <a:latin typeface="Trebuchet MS"/>
                          <a:cs typeface="Trebuchet MS"/>
                        </a:rPr>
                        <a:t>Booking_Changes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14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14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14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8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booking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can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80" dirty="0">
                          <a:latin typeface="Trebuchet MS"/>
                          <a:cs typeface="Trebuchet MS"/>
                        </a:rPr>
                        <a:t>have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multiple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recorded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flight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changes;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each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5" dirty="0">
                          <a:latin typeface="Trebuchet MS"/>
                          <a:cs typeface="Trebuchet MS"/>
                        </a:rPr>
                        <a:t>change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record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65" dirty="0">
                          <a:latin typeface="Trebuchet MS"/>
                          <a:cs typeface="Trebuchet MS"/>
                        </a:rPr>
                        <a:t>belongs</a:t>
                      </a:r>
                      <a:r>
                        <a:rPr sz="1400" spc="5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1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7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1400" spc="5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400" spc="45" dirty="0">
                          <a:latin typeface="Trebuchet MS"/>
                          <a:cs typeface="Trebuchet MS"/>
                        </a:rPr>
                        <a:t>booking.</a:t>
                      </a:r>
                      <a:endParaRPr sz="14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04800" y="457200"/>
            <a:ext cx="4724400" cy="720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5.</a:t>
            </a:r>
            <a:r>
              <a:rPr spc="125" dirty="0"/>
              <a:t> </a:t>
            </a:r>
            <a:r>
              <a:rPr spc="215" dirty="0"/>
              <a:t>Entity-</a:t>
            </a:r>
            <a:r>
              <a:rPr spc="229" dirty="0"/>
              <a:t>Relationship</a:t>
            </a:r>
            <a:r>
              <a:rPr spc="130" dirty="0"/>
              <a:t> </a:t>
            </a:r>
            <a:r>
              <a:rPr spc="300" dirty="0"/>
              <a:t>Diagram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4800" y="1478523"/>
            <a:ext cx="2667000" cy="15517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20" dirty="0">
                <a:latin typeface="Trebuchet MS"/>
                <a:cs typeface="Trebuchet MS"/>
              </a:rPr>
              <a:t>PK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75" dirty="0">
                <a:latin typeface="Trebuchet MS"/>
                <a:cs typeface="Trebuchet MS"/>
              </a:rPr>
              <a:t>means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spc="20" dirty="0">
                <a:latin typeface="Trebuchet MS"/>
                <a:cs typeface="Trebuchet MS"/>
              </a:rPr>
              <a:t>Primary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20" dirty="0">
                <a:latin typeface="Trebuchet MS"/>
                <a:cs typeface="Trebuchet MS"/>
              </a:rPr>
              <a:t>Key,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20" dirty="0">
                <a:latin typeface="Trebuchet MS"/>
                <a:cs typeface="Trebuchet MS"/>
              </a:rPr>
              <a:t>FK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spc="75" dirty="0">
                <a:latin typeface="Trebuchet MS"/>
                <a:cs typeface="Trebuchet MS"/>
              </a:rPr>
              <a:t>means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20" dirty="0">
                <a:latin typeface="Trebuchet MS"/>
                <a:cs typeface="Trebuchet MS"/>
              </a:rPr>
              <a:t>Foreign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spc="20" dirty="0">
                <a:latin typeface="Trebuchet MS"/>
                <a:cs typeface="Trebuchet MS"/>
              </a:rPr>
              <a:t>Key,</a:t>
            </a:r>
            <a:r>
              <a:rPr sz="2000" spc="60" dirty="0">
                <a:latin typeface="Trebuchet MS"/>
                <a:cs typeface="Trebuchet MS"/>
              </a:rPr>
              <a:t> and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spc="70" dirty="0">
                <a:latin typeface="Trebuchet MS"/>
                <a:cs typeface="Trebuchet MS"/>
              </a:rPr>
              <a:t>UQ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75" dirty="0">
                <a:latin typeface="Trebuchet MS"/>
                <a:cs typeface="Trebuchet MS"/>
              </a:rPr>
              <a:t>means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spc="50" dirty="0">
                <a:latin typeface="Trebuchet MS"/>
                <a:cs typeface="Trebuchet MS"/>
              </a:rPr>
              <a:t>Unique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constraint.</a:t>
            </a:r>
            <a:endParaRPr sz="2000" dirty="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91000" y="152400"/>
            <a:ext cx="7543800" cy="6553200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6.</a:t>
            </a:r>
            <a:r>
              <a:rPr spc="100" dirty="0"/>
              <a:t> </a:t>
            </a:r>
            <a:r>
              <a:rPr spc="345" dirty="0"/>
              <a:t>ERD</a:t>
            </a:r>
            <a:r>
              <a:rPr spc="100" dirty="0"/>
              <a:t> </a:t>
            </a:r>
            <a:r>
              <a:rPr spc="285" dirty="0"/>
              <a:t>Legend</a:t>
            </a:r>
            <a:r>
              <a:rPr spc="105" dirty="0"/>
              <a:t> </a:t>
            </a:r>
            <a:r>
              <a:rPr dirty="0"/>
              <a:t>/</a:t>
            </a:r>
            <a:r>
              <a:rPr spc="100" dirty="0"/>
              <a:t> </a:t>
            </a:r>
            <a:r>
              <a:rPr spc="240" dirty="0"/>
              <a:t>Notation</a:t>
            </a:r>
            <a:r>
              <a:rPr spc="105" dirty="0"/>
              <a:t> </a:t>
            </a:r>
            <a:r>
              <a:rPr lang="en-US" spc="300" dirty="0"/>
              <a:t>			</a:t>
            </a:r>
            <a:r>
              <a:rPr spc="100" dirty="0"/>
              <a:t> </a:t>
            </a:r>
            <a:r>
              <a:rPr spc="130" dirty="0"/>
              <a:t>7.</a:t>
            </a:r>
            <a:r>
              <a:rPr spc="105" dirty="0"/>
              <a:t> </a:t>
            </a:r>
            <a:r>
              <a:rPr spc="229" dirty="0"/>
              <a:t>Conclusion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038855"/>
              </p:ext>
            </p:extLst>
          </p:nvPr>
        </p:nvGraphicFramePr>
        <p:xfrm>
          <a:off x="545782" y="1048702"/>
          <a:ext cx="5486400" cy="4287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b="1" spc="90" dirty="0">
                          <a:latin typeface="Trebuchet MS"/>
                          <a:cs typeface="Trebuchet MS"/>
                        </a:rPr>
                        <a:t>Notation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b="1" spc="110" dirty="0">
                          <a:latin typeface="Trebuchet MS"/>
                          <a:cs typeface="Trebuchet MS"/>
                        </a:rPr>
                        <a:t>Meaning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30" dirty="0">
                          <a:latin typeface="Trebuchet MS"/>
                          <a:cs typeface="Trebuchet MS"/>
                        </a:rPr>
                        <a:t>PK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55" dirty="0">
                          <a:latin typeface="Trebuchet MS"/>
                          <a:cs typeface="Trebuchet MS"/>
                        </a:rPr>
                        <a:t>Primary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70" dirty="0">
                          <a:latin typeface="Trebuchet MS"/>
                          <a:cs typeface="Trebuchet MS"/>
                        </a:rPr>
                        <a:t>Key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2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5" dirty="0">
                          <a:latin typeface="Trebuchet MS"/>
                          <a:cs typeface="Trebuchet MS"/>
                        </a:rPr>
                        <a:t>uniquely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20" dirty="0">
                          <a:latin typeface="Trebuchet MS"/>
                          <a:cs typeface="Trebuchet MS"/>
                        </a:rPr>
                        <a:t>identifies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7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-20" dirty="0">
                          <a:latin typeface="Trebuchet MS"/>
                          <a:cs typeface="Trebuchet MS"/>
                        </a:rPr>
                        <a:t>row.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30" dirty="0">
                          <a:latin typeface="Trebuchet MS"/>
                          <a:cs typeface="Trebuchet MS"/>
                        </a:rPr>
                        <a:t>FK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55" dirty="0">
                          <a:latin typeface="Trebuchet MS"/>
                          <a:cs typeface="Trebuchet MS"/>
                        </a:rPr>
                        <a:t>Foreign</a:t>
                      </a:r>
                      <a:r>
                        <a:rPr sz="20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70" dirty="0">
                          <a:latin typeface="Trebuchet MS"/>
                          <a:cs typeface="Trebuchet MS"/>
                        </a:rPr>
                        <a:t>Key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references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75" dirty="0">
                          <a:latin typeface="Trebuchet MS"/>
                          <a:cs typeface="Trebuchet MS"/>
                        </a:rPr>
                        <a:t>a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5" dirty="0">
                          <a:latin typeface="Trebuchet MS"/>
                          <a:cs typeface="Trebuchet MS"/>
                        </a:rPr>
                        <a:t>primary</a:t>
                      </a:r>
                      <a:r>
                        <a:rPr sz="2000" spc="3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70" dirty="0">
                          <a:latin typeface="Trebuchet MS"/>
                          <a:cs typeface="Trebuchet MS"/>
                        </a:rPr>
                        <a:t>key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dirty="0">
                          <a:latin typeface="Trebuchet MS"/>
                          <a:cs typeface="Trebuchet MS"/>
                        </a:rPr>
                        <a:t>in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5" dirty="0">
                          <a:latin typeface="Trebuchet MS"/>
                          <a:cs typeface="Trebuchet MS"/>
                        </a:rPr>
                        <a:t>another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-10" dirty="0">
                          <a:latin typeface="Trebuchet MS"/>
                          <a:cs typeface="Trebuchet MS"/>
                        </a:rPr>
                        <a:t>entity.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65" dirty="0">
                          <a:latin typeface="Trebuchet MS"/>
                          <a:cs typeface="Trebuchet MS"/>
                        </a:rPr>
                        <a:t>UQ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60" dirty="0">
                          <a:latin typeface="Trebuchet MS"/>
                          <a:cs typeface="Trebuchet MS"/>
                        </a:rPr>
                        <a:t>Unique 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constraint</a:t>
                      </a:r>
                      <a:r>
                        <a:rPr sz="20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2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2000" spc="60" dirty="0">
                          <a:latin typeface="Trebuchet MS"/>
                          <a:cs typeface="Trebuchet MS"/>
                        </a:rPr>
                        <a:t> prevents</a:t>
                      </a:r>
                      <a:r>
                        <a:rPr sz="2000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20" dirty="0">
                          <a:latin typeface="Trebuchet MS"/>
                          <a:cs typeface="Trebuchet MS"/>
                        </a:rPr>
                        <a:t>duplicate</a:t>
                      </a:r>
                      <a:r>
                        <a:rPr sz="2000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40" dirty="0">
                          <a:latin typeface="Trebuchet MS"/>
                          <a:cs typeface="Trebuchet MS"/>
                        </a:rPr>
                        <a:t>values.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20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20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N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60" dirty="0">
                          <a:latin typeface="Trebuchet MS"/>
                          <a:cs typeface="Trebuchet MS"/>
                        </a:rPr>
                        <a:t>One-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to-</a:t>
                      </a:r>
                      <a:r>
                        <a:rPr sz="2000" spc="65" dirty="0">
                          <a:latin typeface="Trebuchet MS"/>
                          <a:cs typeface="Trebuchet MS"/>
                        </a:rPr>
                        <a:t>Many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-10" dirty="0">
                          <a:latin typeface="Trebuchet MS"/>
                          <a:cs typeface="Trebuchet MS"/>
                        </a:rPr>
                        <a:t>relationship.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85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9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2000" dirty="0">
                          <a:latin typeface="Trebuchet MS"/>
                          <a:cs typeface="Trebuchet MS"/>
                        </a:rPr>
                        <a:t> :</a:t>
                      </a:r>
                      <a:r>
                        <a:rPr sz="2000" spc="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-20" dirty="0">
                          <a:latin typeface="Trebuchet MS"/>
                          <a:cs typeface="Trebuchet MS"/>
                        </a:rPr>
                        <a:t>0..1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50" dirty="0">
                          <a:latin typeface="Trebuchet MS"/>
                          <a:cs typeface="Trebuchet MS"/>
                        </a:rPr>
                        <a:t>One-</a:t>
                      </a:r>
                      <a:r>
                        <a:rPr sz="2000" dirty="0">
                          <a:latin typeface="Trebuchet MS"/>
                          <a:cs typeface="Trebuchet MS"/>
                        </a:rPr>
                        <a:t>to-zero-or-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one</a:t>
                      </a:r>
                      <a:r>
                        <a:rPr sz="2000" spc="49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-10" dirty="0">
                          <a:latin typeface="Trebuchet MS"/>
                          <a:cs typeface="Trebuchet MS"/>
                        </a:rPr>
                        <a:t>relationship.</a:t>
                      </a:r>
                      <a:endParaRPr sz="20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0508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50" dirty="0">
                          <a:latin typeface="Trebuchet MS"/>
                          <a:cs typeface="Trebuchet MS"/>
                        </a:rPr>
                        <a:t>Required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spc="10" dirty="0">
                          <a:latin typeface="Trebuchet MS"/>
                          <a:cs typeface="Trebuchet MS"/>
                        </a:rPr>
                        <a:t>Attribute</a:t>
                      </a:r>
                      <a:r>
                        <a:rPr sz="20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is</a:t>
                      </a:r>
                      <a:r>
                        <a:rPr sz="2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5" dirty="0">
                          <a:latin typeface="Trebuchet MS"/>
                          <a:cs typeface="Trebuchet MS"/>
                        </a:rPr>
                        <a:t>expected</a:t>
                      </a:r>
                      <a:r>
                        <a:rPr sz="2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10" dirty="0">
                          <a:latin typeface="Trebuchet MS"/>
                          <a:cs typeface="Trebuchet MS"/>
                        </a:rPr>
                        <a:t>to</a:t>
                      </a:r>
                      <a:r>
                        <a:rPr sz="2000" spc="7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50" dirty="0">
                          <a:latin typeface="Trebuchet MS"/>
                          <a:cs typeface="Trebuchet MS"/>
                        </a:rPr>
                        <a:t>contain</a:t>
                      </a:r>
                      <a:r>
                        <a:rPr sz="2000" spc="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75" dirty="0">
                          <a:latin typeface="Trebuchet MS"/>
                          <a:cs typeface="Trebuchet MS"/>
                        </a:rPr>
                        <a:t>a </a:t>
                      </a:r>
                      <a:r>
                        <a:rPr sz="2000" spc="-10" dirty="0">
                          <a:latin typeface="Trebuchet MS"/>
                          <a:cs typeface="Trebuchet MS"/>
                        </a:rPr>
                        <a:t>value.</a:t>
                      </a:r>
                      <a:endParaRPr sz="2000" dirty="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marL="5080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2000" dirty="0">
                          <a:latin typeface="Trebuchet MS"/>
                          <a:cs typeface="Trebuchet MS"/>
                        </a:rPr>
                        <a:t>Optional</a:t>
                      </a:r>
                      <a:r>
                        <a:rPr sz="2000" spc="21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-150" dirty="0">
                          <a:latin typeface="Trebuchet MS"/>
                          <a:cs typeface="Trebuchet MS"/>
                        </a:rPr>
                        <a:t>/</a:t>
                      </a:r>
                      <a:r>
                        <a:rPr sz="2000" spc="21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2000" spc="45" dirty="0">
                          <a:latin typeface="Trebuchet MS"/>
                          <a:cs typeface="Trebuchet MS"/>
                        </a:rPr>
                        <a:t>NULL</a:t>
                      </a:r>
                      <a:endParaRPr sz="2000">
                        <a:latin typeface="Trebuchet MS"/>
                        <a:cs typeface="Trebuchet MS"/>
                      </a:endParaRPr>
                    </a:p>
                  </a:txBody>
                  <a:tcPr marL="0" marR="0" marT="406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0" marR="445134">
                        <a:lnSpc>
                          <a:spcPts val="950"/>
                        </a:lnSpc>
                        <a:spcBef>
                          <a:spcPts val="359"/>
                        </a:spcBef>
                      </a:pPr>
                      <a:endParaRPr sz="2000" dirty="0">
                        <a:latin typeface="Trebuchet MS"/>
                        <a:cs typeface="Trebuchet MS"/>
                      </a:endParaRPr>
                    </a:p>
                  </a:txBody>
                  <a:tcPr marL="0" marR="0" marT="4571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388100" y="848359"/>
            <a:ext cx="5042535" cy="3027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2000" dirty="0">
              <a:latin typeface="Trebuchet MS"/>
              <a:cs typeface="Trebuchet MS"/>
            </a:endParaRPr>
          </a:p>
          <a:p>
            <a:pPr marL="12700" marR="5080">
              <a:lnSpc>
                <a:spcPct val="111100"/>
              </a:lnSpc>
            </a:pPr>
            <a:r>
              <a:rPr sz="2000" spc="10" dirty="0">
                <a:latin typeface="Trebuchet MS"/>
                <a:cs typeface="Trebuchet MS"/>
              </a:rPr>
              <a:t>Overall,</a:t>
            </a:r>
            <a:r>
              <a:rPr sz="2000" spc="90" dirty="0">
                <a:latin typeface="Trebuchet MS"/>
                <a:cs typeface="Trebuchet MS"/>
              </a:rPr>
              <a:t> </a:t>
            </a:r>
            <a:r>
              <a:rPr sz="2000" spc="55" dirty="0">
                <a:latin typeface="Trebuchet MS"/>
                <a:cs typeface="Trebuchet MS"/>
              </a:rPr>
              <a:t>this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90" dirty="0">
                <a:latin typeface="Trebuchet MS"/>
                <a:cs typeface="Trebuchet MS"/>
              </a:rPr>
              <a:t>diagram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105" dirty="0">
                <a:latin typeface="Trebuchet MS"/>
                <a:cs typeface="Trebuchet MS"/>
              </a:rPr>
              <a:t>shows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90" dirty="0">
                <a:latin typeface="Trebuchet MS"/>
                <a:cs typeface="Trebuchet MS"/>
              </a:rPr>
              <a:t>how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55" dirty="0">
                <a:latin typeface="Trebuchet MS"/>
                <a:cs typeface="Trebuchet MS"/>
              </a:rPr>
              <a:t>the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10" dirty="0">
                <a:latin typeface="Trebuchet MS"/>
                <a:cs typeface="Trebuchet MS"/>
              </a:rPr>
              <a:t>airport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90" dirty="0">
                <a:latin typeface="Trebuchet MS"/>
                <a:cs typeface="Trebuchet MS"/>
              </a:rPr>
              <a:t>database</a:t>
            </a:r>
            <a:r>
              <a:rPr sz="2000" spc="95" dirty="0">
                <a:latin typeface="Trebuchet MS"/>
                <a:cs typeface="Trebuchet MS"/>
              </a:rPr>
              <a:t> </a:t>
            </a:r>
            <a:r>
              <a:rPr sz="2000" spc="45" dirty="0">
                <a:latin typeface="Trebuchet MS"/>
                <a:cs typeface="Trebuchet MS"/>
              </a:rPr>
              <a:t>works. </a:t>
            </a:r>
            <a:r>
              <a:rPr sz="2000" spc="70" dirty="0">
                <a:latin typeface="Trebuchet MS"/>
                <a:cs typeface="Trebuchet MS"/>
              </a:rPr>
              <a:t>Primary</a:t>
            </a:r>
            <a:r>
              <a:rPr sz="2000" spc="25" dirty="0">
                <a:latin typeface="Trebuchet MS"/>
                <a:cs typeface="Trebuchet MS"/>
              </a:rPr>
              <a:t> </a:t>
            </a:r>
            <a:r>
              <a:rPr sz="2000" spc="100" dirty="0">
                <a:latin typeface="Trebuchet MS"/>
                <a:cs typeface="Trebuchet MS"/>
              </a:rPr>
              <a:t>and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60" dirty="0">
                <a:latin typeface="Trebuchet MS"/>
                <a:cs typeface="Trebuchet MS"/>
              </a:rPr>
              <a:t>foreign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110" dirty="0">
                <a:latin typeface="Trebuchet MS"/>
                <a:cs typeface="Trebuchet MS"/>
              </a:rPr>
              <a:t>keys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114" dirty="0">
                <a:latin typeface="Trebuchet MS"/>
                <a:cs typeface="Trebuchet MS"/>
              </a:rPr>
              <a:t>make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90" dirty="0">
                <a:latin typeface="Trebuchet MS"/>
                <a:cs typeface="Trebuchet MS"/>
              </a:rPr>
              <a:t>sure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all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55" dirty="0">
                <a:latin typeface="Trebuchet MS"/>
                <a:cs typeface="Trebuchet MS"/>
              </a:rPr>
              <a:t>the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75" dirty="0">
                <a:latin typeface="Trebuchet MS"/>
                <a:cs typeface="Trebuchet MS"/>
              </a:rPr>
              <a:t>data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95" dirty="0">
                <a:latin typeface="Trebuchet MS"/>
                <a:cs typeface="Trebuchet MS"/>
              </a:rPr>
              <a:t>stays</a:t>
            </a:r>
            <a:r>
              <a:rPr sz="2000" spc="30" dirty="0">
                <a:latin typeface="Trebuchet MS"/>
                <a:cs typeface="Trebuchet MS"/>
              </a:rPr>
              <a:t> </a:t>
            </a:r>
            <a:r>
              <a:rPr sz="2000" spc="60" dirty="0">
                <a:latin typeface="Trebuchet MS"/>
                <a:cs typeface="Trebuchet MS"/>
              </a:rPr>
              <a:t>accurate </a:t>
            </a:r>
            <a:r>
              <a:rPr sz="2000" spc="100" dirty="0">
                <a:latin typeface="Trebuchet MS"/>
                <a:cs typeface="Trebuchet MS"/>
              </a:rPr>
              <a:t>and</a:t>
            </a:r>
            <a:r>
              <a:rPr sz="2000" spc="45" dirty="0">
                <a:latin typeface="Trebuchet MS"/>
                <a:cs typeface="Trebuchet MS"/>
              </a:rPr>
              <a:t> </a:t>
            </a:r>
            <a:r>
              <a:rPr sz="2000" spc="60" dirty="0">
                <a:latin typeface="Trebuchet MS"/>
                <a:cs typeface="Trebuchet MS"/>
              </a:rPr>
              <a:t>connected.</a:t>
            </a:r>
            <a:r>
              <a:rPr sz="2000" spc="4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It</a:t>
            </a:r>
            <a:r>
              <a:rPr sz="2000" spc="50" dirty="0">
                <a:latin typeface="Trebuchet MS"/>
                <a:cs typeface="Trebuchet MS"/>
              </a:rPr>
              <a:t> </a:t>
            </a:r>
            <a:r>
              <a:rPr sz="2000" spc="55" dirty="0">
                <a:latin typeface="Trebuchet MS"/>
                <a:cs typeface="Trebuchet MS"/>
              </a:rPr>
              <a:t>splits</a:t>
            </a:r>
            <a:r>
              <a:rPr sz="2000" spc="45" dirty="0">
                <a:latin typeface="Trebuchet MS"/>
                <a:cs typeface="Trebuchet MS"/>
              </a:rPr>
              <a:t> </a:t>
            </a:r>
            <a:r>
              <a:rPr sz="2000" spc="75" dirty="0">
                <a:latin typeface="Trebuchet MS"/>
                <a:cs typeface="Trebuchet MS"/>
              </a:rPr>
              <a:t>everything</a:t>
            </a:r>
            <a:r>
              <a:rPr sz="2000" spc="5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into</a:t>
            </a:r>
            <a:r>
              <a:rPr sz="2000" spc="45" dirty="0">
                <a:latin typeface="Trebuchet MS"/>
                <a:cs typeface="Trebuchet MS"/>
              </a:rPr>
              <a:t> </a:t>
            </a:r>
            <a:r>
              <a:rPr sz="2000" spc="65" dirty="0">
                <a:latin typeface="Trebuchet MS"/>
                <a:cs typeface="Trebuchet MS"/>
              </a:rPr>
              <a:t>clean</a:t>
            </a:r>
            <a:r>
              <a:rPr sz="2000" spc="45" dirty="0">
                <a:latin typeface="Trebuchet MS"/>
                <a:cs typeface="Trebuchet MS"/>
              </a:rPr>
              <a:t> </a:t>
            </a:r>
            <a:r>
              <a:rPr sz="2000" spc="65" dirty="0">
                <a:latin typeface="Trebuchet MS"/>
                <a:cs typeface="Trebuchet MS"/>
              </a:rPr>
              <a:t>tables</a:t>
            </a:r>
            <a:r>
              <a:rPr sz="2000" spc="50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like </a:t>
            </a:r>
            <a:r>
              <a:rPr sz="2000" spc="90" dirty="0">
                <a:latin typeface="Trebuchet MS"/>
                <a:cs typeface="Trebuchet MS"/>
              </a:rPr>
              <a:t>passengers,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100" dirty="0">
                <a:latin typeface="Trebuchet MS"/>
                <a:cs typeface="Trebuchet MS"/>
              </a:rPr>
              <a:t>baggage,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100" dirty="0">
                <a:latin typeface="Trebuchet MS"/>
                <a:cs typeface="Trebuchet MS"/>
              </a:rPr>
              <a:t>and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flights,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100" dirty="0">
                <a:latin typeface="Trebuchet MS"/>
                <a:cs typeface="Trebuchet MS"/>
              </a:rPr>
              <a:t>making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it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110" dirty="0">
                <a:latin typeface="Trebuchet MS"/>
                <a:cs typeface="Trebuchet MS"/>
              </a:rPr>
              <a:t>easy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to</a:t>
            </a:r>
            <a:r>
              <a:rPr sz="2000" spc="60" dirty="0">
                <a:latin typeface="Trebuchet MS"/>
                <a:cs typeface="Trebuchet MS"/>
              </a:rPr>
              <a:t> </a:t>
            </a:r>
            <a:r>
              <a:rPr sz="2000" spc="75" dirty="0">
                <a:latin typeface="Trebuchet MS"/>
                <a:cs typeface="Trebuchet MS"/>
              </a:rPr>
              <a:t>implement</a:t>
            </a:r>
            <a:r>
              <a:rPr sz="2000" spc="65" dirty="0">
                <a:latin typeface="Trebuchet MS"/>
                <a:cs typeface="Trebuchet MS"/>
              </a:rPr>
              <a:t> </a:t>
            </a:r>
            <a:r>
              <a:rPr sz="2000" spc="-25" dirty="0">
                <a:latin typeface="Trebuchet MS"/>
                <a:cs typeface="Trebuchet MS"/>
              </a:rPr>
              <a:t>in </a:t>
            </a:r>
            <a:r>
              <a:rPr sz="2000" spc="65" dirty="0">
                <a:latin typeface="Trebuchet MS"/>
                <a:cs typeface="Trebuchet MS"/>
              </a:rPr>
              <a:t>PostgreSQL.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204BAC-D371-5873-B1FA-68BCA6EDE7C4}"/>
              </a:ext>
            </a:extLst>
          </p:cNvPr>
          <p:cNvSpPr txBox="1"/>
          <p:nvPr/>
        </p:nvSpPr>
        <p:spPr>
          <a:xfrm>
            <a:off x="1875685" y="4751447"/>
            <a:ext cx="4303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60" dirty="0">
                <a:latin typeface="Trebuchet MS"/>
                <a:cs typeface="Trebuchet MS"/>
              </a:rPr>
              <a:t>Value</a:t>
            </a:r>
            <a:r>
              <a:rPr lang="en-US" sz="1600" spc="70" dirty="0">
                <a:latin typeface="Trebuchet MS"/>
                <a:cs typeface="Trebuchet MS"/>
              </a:rPr>
              <a:t> </a:t>
            </a:r>
            <a:r>
              <a:rPr lang="en-US" sz="1600" spc="95" dirty="0">
                <a:latin typeface="Trebuchet MS"/>
                <a:cs typeface="Trebuchet MS"/>
              </a:rPr>
              <a:t>may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65" dirty="0">
                <a:latin typeface="Trebuchet MS"/>
                <a:cs typeface="Trebuchet MS"/>
              </a:rPr>
              <a:t>be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20" dirty="0">
                <a:latin typeface="Trebuchet MS"/>
                <a:cs typeface="Trebuchet MS"/>
              </a:rPr>
              <a:t>absent,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50" dirty="0">
                <a:latin typeface="Trebuchet MS"/>
                <a:cs typeface="Trebuchet MS"/>
              </a:rPr>
              <a:t>especially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20" dirty="0">
                <a:latin typeface="Trebuchet MS"/>
                <a:cs typeface="Trebuchet MS"/>
              </a:rPr>
              <a:t>for</a:t>
            </a:r>
            <a:r>
              <a:rPr lang="en-US" sz="1600" spc="70" dirty="0">
                <a:latin typeface="Trebuchet MS"/>
                <a:cs typeface="Trebuchet MS"/>
              </a:rPr>
              <a:t> </a:t>
            </a:r>
            <a:r>
              <a:rPr lang="en-US" sz="1600" spc="20" dirty="0">
                <a:latin typeface="Trebuchet MS"/>
                <a:cs typeface="Trebuchet MS"/>
              </a:rPr>
              <a:t>actual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20" dirty="0">
                <a:latin typeface="Trebuchet MS"/>
                <a:cs typeface="Trebuchet MS"/>
              </a:rPr>
              <a:t>flight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60" dirty="0">
                <a:latin typeface="Trebuchet MS"/>
                <a:cs typeface="Trebuchet MS"/>
              </a:rPr>
              <a:t>times</a:t>
            </a:r>
            <a:r>
              <a:rPr lang="en-US" sz="1600" spc="75" dirty="0">
                <a:latin typeface="Trebuchet MS"/>
                <a:cs typeface="Trebuchet MS"/>
              </a:rPr>
              <a:t> </a:t>
            </a:r>
            <a:r>
              <a:rPr lang="en-US" sz="1600" spc="20" dirty="0">
                <a:latin typeface="Trebuchet MS"/>
                <a:cs typeface="Trebuchet MS"/>
              </a:rPr>
              <a:t>before</a:t>
            </a:r>
            <a:r>
              <a:rPr lang="en-US" sz="1600" spc="75" dirty="0">
                <a:latin typeface="Trebuchet MS"/>
                <a:cs typeface="Trebuchet MS"/>
              </a:rPr>
              <a:t> a</a:t>
            </a:r>
            <a:r>
              <a:rPr lang="en-US" sz="1600" spc="70" dirty="0">
                <a:latin typeface="Trebuchet MS"/>
                <a:cs typeface="Trebuchet MS"/>
              </a:rPr>
              <a:t> </a:t>
            </a:r>
            <a:r>
              <a:rPr lang="en-US" sz="1600" spc="-10" dirty="0">
                <a:latin typeface="Trebuchet MS"/>
                <a:cs typeface="Trebuchet MS"/>
              </a:rPr>
              <a:t>flight operates</a:t>
            </a:r>
            <a:endParaRPr lang="ru-KZ" sz="1600" dirty="0"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Words>1387</Words>
  <Application>Microsoft Office PowerPoint</Application>
  <PresentationFormat>Широкоэкранный</PresentationFormat>
  <Paragraphs>427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Calibri</vt:lpstr>
      <vt:lpstr>Trebuchet MS</vt:lpstr>
      <vt:lpstr>Office Theme</vt:lpstr>
      <vt:lpstr>Laboratory Work 1: ERD Diagram - International Airport</vt:lpstr>
      <vt:lpstr>3. Attributes, Keys and Data Types</vt:lpstr>
      <vt:lpstr>3. Attributes, Keys and Data Types -Continued</vt:lpstr>
      <vt:lpstr>3. Attributes, Keys and Data Types -Continued</vt:lpstr>
      <vt:lpstr>4. Relationships and Cardinalities</vt:lpstr>
      <vt:lpstr>5. Entity-Relationship Diagram</vt:lpstr>
      <vt:lpstr>6. ERD Legend / Notation     7. 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Dmitrii Kuttybaev</cp:lastModifiedBy>
  <cp:revision>3</cp:revision>
  <dcterms:created xsi:type="dcterms:W3CDTF">2026-09-11T13:21:23Z</dcterms:created>
  <dcterms:modified xsi:type="dcterms:W3CDTF">2026-09-11T13:42:42Z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2026-09-11T00:00:00Z</vt:filetime>
  </property>
  <property fmtid="{D5CDD505-2E9C-101B-9397-08002B2CF9AE}" pid="4" name="Creator">
    <vt:lpwstr>anonymous</vt:lpwstr>
  </property>
  <property fmtid="{D5CDD505-2E9C-101B-9397-08002B2CF9AE}" pid="5" name="LastSaved">
    <vt:filetime>2026-09-11T00:00:00Z</vt:filetime>
  </property>
  <property fmtid="{D5CDD505-2E9C-101B-9397-08002B2CF9AE}" pid="6" name="Producer">
    <vt:lpwstr>ReportLab PDF Library - (opensource)</vt:lpwstr>
  </property>
</Properties>
</file>